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440" y="215005"/>
            <a:ext cx="428371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67676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67676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61"/>
            <a:ext cx="9144000" cy="1114425"/>
          </a:xfrm>
          <a:custGeom>
            <a:avLst/>
            <a:gdLst/>
            <a:ahLst/>
            <a:cxnLst/>
            <a:rect l="l" t="t" r="r" b="b"/>
            <a:pathLst>
              <a:path w="9144000" h="1114425">
                <a:moveTo>
                  <a:pt x="9144000" y="0"/>
                </a:moveTo>
                <a:lnTo>
                  <a:pt x="0" y="0"/>
                </a:lnTo>
                <a:lnTo>
                  <a:pt x="0" y="1113840"/>
                </a:lnTo>
                <a:lnTo>
                  <a:pt x="9144000" y="1113840"/>
                </a:lnTo>
                <a:lnTo>
                  <a:pt x="9144000" y="0"/>
                </a:lnTo>
                <a:close/>
              </a:path>
            </a:pathLst>
          </a:custGeom>
          <a:solidFill>
            <a:srgbClr val="50B8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440" y="-57283"/>
            <a:ext cx="3816350" cy="1130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5328" y="1598572"/>
            <a:ext cx="7933342" cy="2062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67676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8868" y="6492612"/>
            <a:ext cx="387350" cy="31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898989"/>
                </a:solidFill>
                <a:latin typeface="Franklin Gothic Book"/>
                <a:cs typeface="Franklin Gothic Book"/>
              </a:defRPr>
            </a:lvl1pPr>
          </a:lstStyle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61"/>
            <a:ext cx="9144000" cy="6852284"/>
          </a:xfrm>
          <a:custGeom>
            <a:avLst/>
            <a:gdLst/>
            <a:ahLst/>
            <a:cxnLst/>
            <a:rect l="l" t="t" r="r" b="b"/>
            <a:pathLst>
              <a:path w="9144000" h="6852284">
                <a:moveTo>
                  <a:pt x="9144000" y="0"/>
                </a:moveTo>
                <a:lnTo>
                  <a:pt x="0" y="0"/>
                </a:lnTo>
                <a:lnTo>
                  <a:pt x="0" y="6851942"/>
                </a:lnTo>
                <a:lnTo>
                  <a:pt x="9144000" y="6851942"/>
                </a:lnTo>
                <a:lnTo>
                  <a:pt x="9144000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730" y="2628885"/>
            <a:ext cx="7428865" cy="11240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R="132080" algn="ctr">
              <a:lnSpc>
                <a:spcPct val="100000"/>
              </a:lnSpc>
              <a:spcBef>
                <a:spcPts val="340"/>
              </a:spcBef>
            </a:pPr>
            <a:r>
              <a:rPr sz="6600" dirty="0"/>
              <a:t>Pitch</a:t>
            </a:r>
            <a:r>
              <a:rPr sz="6600" spc="-40" dirty="0"/>
              <a:t> </a:t>
            </a:r>
            <a:r>
              <a:rPr sz="6600" dirty="0"/>
              <a:t>Deck</a:t>
            </a:r>
            <a:r>
              <a:rPr sz="6600" spc="-35" dirty="0"/>
              <a:t> </a:t>
            </a:r>
            <a:r>
              <a:rPr sz="6600" spc="-10" dirty="0"/>
              <a:t>Template</a:t>
            </a:r>
            <a:endParaRPr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2065"/>
            <a:ext cx="9144000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Flow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r>
              <a:rPr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FYI Only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4314" y="1535479"/>
            <a:ext cx="2348230" cy="4328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sz="24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Company</a:t>
            </a:r>
            <a:r>
              <a:rPr sz="2400" spc="-9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Purpose Problem</a:t>
            </a:r>
            <a:endParaRPr sz="2400" dirty="0">
              <a:latin typeface="Franklin Gothic Book"/>
              <a:cs typeface="Franklin Gothic Book"/>
            </a:endParaRPr>
          </a:p>
          <a:p>
            <a:pPr marL="12700" marR="774700" indent="-635">
              <a:lnSpc>
                <a:spcPct val="119800"/>
              </a:lnSpc>
              <a:spcBef>
                <a:spcPts val="50"/>
              </a:spcBef>
            </a:pPr>
            <a:r>
              <a:rPr sz="24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Solution </a:t>
            </a:r>
            <a:r>
              <a:rPr sz="2400" dirty="0">
                <a:solidFill>
                  <a:srgbClr val="767676"/>
                </a:solidFill>
                <a:latin typeface="Franklin Gothic Book"/>
                <a:cs typeface="Franklin Gothic Book"/>
              </a:rPr>
              <a:t>Why</a:t>
            </a:r>
            <a:r>
              <a:rPr sz="2400" spc="-10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2400" spc="-25" dirty="0">
                <a:solidFill>
                  <a:srgbClr val="767676"/>
                </a:solidFill>
                <a:latin typeface="Franklin Gothic Book"/>
                <a:cs typeface="Franklin Gothic Book"/>
              </a:rPr>
              <a:t>Now </a:t>
            </a:r>
            <a:r>
              <a:rPr sz="2400" dirty="0">
                <a:solidFill>
                  <a:srgbClr val="767676"/>
                </a:solidFill>
                <a:latin typeface="Franklin Gothic Book"/>
                <a:cs typeface="Franklin Gothic Book"/>
              </a:rPr>
              <a:t>Market</a:t>
            </a:r>
            <a:r>
              <a:rPr sz="2400" spc="-14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24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Size </a:t>
            </a:r>
            <a:r>
              <a:rPr sz="24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Competition Product</a:t>
            </a:r>
            <a:endParaRPr sz="2400" dirty="0">
              <a:latin typeface="Franklin Gothic Book"/>
              <a:cs typeface="Franklin Gothic Book"/>
            </a:endParaRPr>
          </a:p>
          <a:p>
            <a:pPr marL="12700" marR="284480">
              <a:lnSpc>
                <a:spcPct val="109800"/>
              </a:lnSpc>
              <a:spcBef>
                <a:spcPts val="340"/>
              </a:spcBef>
            </a:pPr>
            <a:r>
              <a:rPr sz="2400" dirty="0">
                <a:solidFill>
                  <a:srgbClr val="767676"/>
                </a:solidFill>
                <a:latin typeface="Franklin Gothic Book"/>
                <a:cs typeface="Franklin Gothic Book"/>
              </a:rPr>
              <a:t>Business </a:t>
            </a:r>
            <a:r>
              <a:rPr sz="24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Model Team</a:t>
            </a:r>
            <a:r>
              <a:rPr sz="2400" spc="60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Financials</a:t>
            </a:r>
            <a:endParaRPr sz="2400" dirty="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Company</a:t>
            </a:r>
            <a:r>
              <a:rPr spc="-225" dirty="0"/>
              <a:t> </a:t>
            </a:r>
            <a:r>
              <a:rPr spc="-10" dirty="0"/>
              <a:t>Purpose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7006590" cy="9956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3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Define</a:t>
            </a:r>
            <a:r>
              <a:rPr sz="3200" spc="-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company/business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in</a:t>
            </a:r>
            <a:r>
              <a:rPr sz="3200" spc="-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single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declarative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sentence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40" y="215005"/>
            <a:ext cx="197738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7948295" cy="25577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887730">
              <a:lnSpc>
                <a:spcPts val="3800"/>
              </a:lnSpc>
              <a:spcBef>
                <a:spcPts val="26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Describe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pain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of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</a:t>
            </a:r>
            <a:r>
              <a:rPr sz="3200" spc="-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(or</a:t>
            </a:r>
            <a:r>
              <a:rPr sz="3200" spc="-4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5" dirty="0">
                <a:solidFill>
                  <a:srgbClr val="767676"/>
                </a:solidFill>
                <a:latin typeface="Franklin Gothic Book"/>
                <a:cs typeface="Franklin Gothic Book"/>
              </a:rPr>
              <a:t>the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customer’s</a:t>
            </a:r>
            <a:r>
              <a:rPr sz="3200" spc="-114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customer)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ct val="100000"/>
              </a:lnSpc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Outline</a:t>
            </a:r>
            <a:r>
              <a:rPr sz="3200" spc="-5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how</a:t>
            </a:r>
            <a:r>
              <a:rPr sz="3200" spc="-5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5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</a:t>
            </a:r>
            <a:r>
              <a:rPr sz="3200" spc="-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addresses</a:t>
            </a:r>
            <a:r>
              <a:rPr sz="3200" spc="-5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issue today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7811134" cy="31375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Demonstrate</a:t>
            </a:r>
            <a:r>
              <a:rPr sz="3200" spc="-13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your</a:t>
            </a:r>
            <a:r>
              <a:rPr sz="3200" spc="-13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company’s</a:t>
            </a:r>
            <a:r>
              <a:rPr sz="3200" spc="-13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value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proposition</a:t>
            </a:r>
            <a:r>
              <a:rPr sz="3200" spc="-9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to</a:t>
            </a:r>
            <a:r>
              <a:rPr sz="3200" spc="-9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make</a:t>
            </a:r>
            <a:r>
              <a:rPr sz="3200" spc="-9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9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customer’s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life</a:t>
            </a:r>
            <a:r>
              <a:rPr sz="3200" spc="-9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better</a:t>
            </a:r>
            <a:endParaRPr sz="3200">
              <a:latin typeface="Franklin Gothic Book"/>
              <a:cs typeface="Franklin Gothic Book"/>
            </a:endParaRPr>
          </a:p>
          <a:p>
            <a:pPr marL="12700" marR="1036319">
              <a:lnSpc>
                <a:spcPts val="8400"/>
              </a:lnSpc>
              <a:spcBef>
                <a:spcPts val="78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Show</a:t>
            </a:r>
            <a:r>
              <a:rPr sz="3200" spc="-7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where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your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product</a:t>
            </a:r>
            <a:r>
              <a:rPr sz="3200" spc="-6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physically</a:t>
            </a:r>
            <a:r>
              <a:rPr sz="3200" spc="-7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sits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Provide</a:t>
            </a:r>
            <a:r>
              <a:rPr sz="3200" spc="-7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use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cases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55" dirty="0"/>
              <a:t> </a:t>
            </a:r>
            <a:r>
              <a:rPr spc="-25" dirty="0"/>
              <a:t>Now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Set-</a:t>
            </a:r>
            <a:r>
              <a:rPr dirty="0"/>
              <a:t>up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historical</a:t>
            </a:r>
            <a:r>
              <a:rPr spc="-70" dirty="0"/>
              <a:t> </a:t>
            </a:r>
            <a:r>
              <a:rPr dirty="0"/>
              <a:t>evolution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your</a:t>
            </a:r>
            <a:r>
              <a:rPr spc="-65" dirty="0"/>
              <a:t> </a:t>
            </a:r>
            <a:r>
              <a:rPr spc="-10" dirty="0"/>
              <a:t>category</a:t>
            </a:r>
          </a:p>
          <a:p>
            <a:pPr marL="1905">
              <a:lnSpc>
                <a:spcPct val="100000"/>
              </a:lnSpc>
              <a:spcBef>
                <a:spcPts val="894"/>
              </a:spcBef>
            </a:pPr>
            <a:endParaRPr spc="-10" dirty="0"/>
          </a:p>
          <a:p>
            <a:pPr marL="14604" marR="257175">
              <a:lnSpc>
                <a:spcPct val="100000"/>
              </a:lnSpc>
              <a:spcBef>
                <a:spcPts val="5"/>
              </a:spcBef>
            </a:pPr>
            <a:r>
              <a:rPr dirty="0"/>
              <a:t>Define</a:t>
            </a:r>
            <a:r>
              <a:rPr spc="-50" dirty="0"/>
              <a:t> </a:t>
            </a:r>
            <a:r>
              <a:rPr dirty="0"/>
              <a:t>recent</a:t>
            </a:r>
            <a:r>
              <a:rPr spc="-50" dirty="0"/>
              <a:t> </a:t>
            </a:r>
            <a:r>
              <a:rPr dirty="0"/>
              <a:t>trends</a:t>
            </a:r>
            <a:r>
              <a:rPr spc="-50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make</a:t>
            </a:r>
            <a:r>
              <a:rPr spc="-50" dirty="0"/>
              <a:t> </a:t>
            </a:r>
            <a:r>
              <a:rPr dirty="0"/>
              <a:t>your</a:t>
            </a:r>
            <a:r>
              <a:rPr spc="-50" dirty="0"/>
              <a:t> </a:t>
            </a:r>
            <a:r>
              <a:rPr spc="-10" dirty="0"/>
              <a:t>solution possible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spc="-150" dirty="0"/>
              <a:t> </a:t>
            </a:r>
            <a:r>
              <a:rPr spc="-20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7604759" cy="2062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Identify/profile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you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cater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5" dirty="0">
                <a:solidFill>
                  <a:srgbClr val="767676"/>
                </a:solidFill>
                <a:latin typeface="Franklin Gothic Book"/>
                <a:cs typeface="Franklin Gothic Book"/>
              </a:rPr>
              <a:t>to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ct val="100000"/>
              </a:lnSpc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Calculate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the</a:t>
            </a:r>
            <a:r>
              <a:rPr sz="3200" spc="-7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TAM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(top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down),</a:t>
            </a:r>
            <a:r>
              <a:rPr sz="3200" spc="-7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SAM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(bottoms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up)</a:t>
            </a:r>
            <a:r>
              <a:rPr sz="3200" spc="-3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and</a:t>
            </a:r>
            <a:r>
              <a:rPr sz="3200" spc="-25" dirty="0">
                <a:solidFill>
                  <a:srgbClr val="767676"/>
                </a:solidFill>
                <a:latin typeface="Franklin Gothic Book"/>
                <a:cs typeface="Franklin Gothic Book"/>
              </a:rPr>
              <a:t> SOM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Competition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4803140" cy="157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List</a:t>
            </a:r>
            <a:r>
              <a:rPr sz="3200" spc="-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competitors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List</a:t>
            </a:r>
            <a:r>
              <a:rPr sz="3200" spc="-114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competitive</a:t>
            </a:r>
            <a:r>
              <a:rPr sz="3200" spc="-11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advantages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40" y="215005"/>
            <a:ext cx="18389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Product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7435850" cy="20713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Product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line-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up</a:t>
            </a:r>
            <a:r>
              <a:rPr sz="3200" spc="-8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(form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factor,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functionality,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features,</a:t>
            </a:r>
            <a:r>
              <a:rPr sz="3200" spc="-15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architecture,</a:t>
            </a:r>
            <a:r>
              <a:rPr sz="3200" spc="-1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intellectual</a:t>
            </a:r>
            <a:r>
              <a:rPr sz="3200" spc="-14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property)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Development</a:t>
            </a:r>
            <a:r>
              <a:rPr sz="3200" spc="-9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roadmap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ts val="233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spc="-5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483122"/>
            <a:ext cx="7298690" cy="480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Revenue</a:t>
            </a:r>
            <a:r>
              <a:rPr sz="3200" spc="-15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model</a:t>
            </a:r>
            <a:endParaRPr sz="320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20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Pricing</a:t>
            </a:r>
            <a:endParaRPr sz="3200">
              <a:latin typeface="Franklin Gothic Book"/>
              <a:cs typeface="Franklin Gothic Book"/>
            </a:endParaRPr>
          </a:p>
          <a:p>
            <a:pPr marL="12700" marR="5080">
              <a:lnSpc>
                <a:spcPct val="220000"/>
              </a:lnSpc>
              <a:spcBef>
                <a:spcPts val="5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Average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account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size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and/or</a:t>
            </a:r>
            <a:r>
              <a:rPr sz="3200" spc="-6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lifetime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value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Sales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&amp;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distribution</a:t>
            </a:r>
            <a:r>
              <a:rPr sz="3200" spc="-6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model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Customer/pipeline</a:t>
            </a:r>
            <a:r>
              <a:rPr sz="3200" spc="-17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20" dirty="0">
                <a:solidFill>
                  <a:srgbClr val="767676"/>
                </a:solidFill>
                <a:latin typeface="Franklin Gothic Book"/>
                <a:cs typeface="Franklin Gothic Book"/>
              </a:rPr>
              <a:t>list</a:t>
            </a:r>
            <a:endParaRPr sz="32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40" y="215005"/>
            <a:ext cx="13017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521" y="1598572"/>
            <a:ext cx="6301105" cy="167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Founders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&amp;</a:t>
            </a:r>
            <a:r>
              <a:rPr sz="3200" spc="-8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Management</a:t>
            </a:r>
            <a:endParaRPr sz="3200" dirty="0">
              <a:latin typeface="Franklin Gothic Book"/>
              <a:cs typeface="Franklin Gothic Book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 dirty="0">
              <a:latin typeface="Franklin Gothic Book"/>
              <a:cs typeface="Franklin Gothic Boo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Board</a:t>
            </a:r>
            <a:r>
              <a:rPr sz="3200" spc="-75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of</a:t>
            </a:r>
            <a:r>
              <a:rPr sz="3200" spc="-7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Directors/Board</a:t>
            </a:r>
            <a:r>
              <a:rPr sz="3200" spc="-7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dirty="0">
                <a:solidFill>
                  <a:srgbClr val="767676"/>
                </a:solidFill>
                <a:latin typeface="Franklin Gothic Book"/>
                <a:cs typeface="Franklin Gothic Book"/>
              </a:rPr>
              <a:t>of</a:t>
            </a:r>
            <a:r>
              <a:rPr sz="3200" spc="-70" dirty="0">
                <a:solidFill>
                  <a:srgbClr val="767676"/>
                </a:solidFill>
                <a:latin typeface="Franklin Gothic Book"/>
                <a:cs typeface="Franklin Gothic Book"/>
              </a:rPr>
              <a:t> </a:t>
            </a:r>
            <a:r>
              <a:rPr sz="3200" spc="-10" dirty="0">
                <a:solidFill>
                  <a:srgbClr val="767676"/>
                </a:solidFill>
                <a:latin typeface="Franklin Gothic Book"/>
                <a:cs typeface="Franklin Gothic Book"/>
              </a:rPr>
              <a:t>Advisors</a:t>
            </a:r>
            <a:endParaRPr sz="3200" dirty="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3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Financials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3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18222" y="1073652"/>
            <a:ext cx="7107555" cy="427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spcBef>
                <a:spcPts val="351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</a:rPr>
              <a:t>P&amp;L</a:t>
            </a:r>
          </a:p>
          <a:p>
            <a:pPr marL="16510">
              <a:spcBef>
                <a:spcPts val="351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</a:rPr>
              <a:t>Balance Sheet </a:t>
            </a:r>
            <a:endParaRPr lang="en-US" sz="3200" dirty="0">
              <a:solidFill>
                <a:srgbClr val="767676"/>
              </a:solidFill>
              <a:latin typeface="Franklin Gothic Book"/>
            </a:endParaRPr>
          </a:p>
          <a:p>
            <a:pPr marL="16510">
              <a:spcBef>
                <a:spcPts val="351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</a:rPr>
              <a:t>Cash flow</a:t>
            </a:r>
          </a:p>
          <a:p>
            <a:pPr marL="16510">
              <a:spcBef>
                <a:spcPts val="351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</a:rPr>
              <a:t>Cap table </a:t>
            </a:r>
            <a:endParaRPr lang="en-US" sz="3200" dirty="0">
              <a:solidFill>
                <a:srgbClr val="767676"/>
              </a:solidFill>
              <a:latin typeface="Franklin Gothic Book"/>
            </a:endParaRPr>
          </a:p>
          <a:p>
            <a:pPr marL="16510">
              <a:spcBef>
                <a:spcPts val="3515"/>
              </a:spcBef>
            </a:pPr>
            <a:r>
              <a:rPr sz="3200" dirty="0">
                <a:solidFill>
                  <a:srgbClr val="767676"/>
                </a:solidFill>
                <a:latin typeface="Franklin Gothic Book"/>
              </a:rPr>
              <a:t>The deal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FFFF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193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Franklin Gothic Book</vt:lpstr>
      <vt:lpstr>Office Theme</vt:lpstr>
      <vt:lpstr>Pitch Deck Template</vt:lpstr>
      <vt:lpstr>Flow FYI Only</vt:lpstr>
      <vt:lpstr>Company Purpose</vt:lpstr>
      <vt:lpstr>Problem</vt:lpstr>
      <vt:lpstr>Solution</vt:lpstr>
      <vt:lpstr>Why Now</vt:lpstr>
      <vt:lpstr>Market Size</vt:lpstr>
      <vt:lpstr>Competition</vt:lpstr>
      <vt:lpstr>Product</vt:lpstr>
      <vt:lpstr>Business Model</vt:lpstr>
      <vt:lpstr>Team</vt:lpstr>
      <vt:lpstr>Financials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 Pitch Deck</dc:title>
  <cp:lastModifiedBy>Invoices</cp:lastModifiedBy>
  <cp:revision>1</cp:revision>
  <dcterms:created xsi:type="dcterms:W3CDTF">2025-07-08T00:04:24Z</dcterms:created>
  <dcterms:modified xsi:type="dcterms:W3CDTF">2025-11-28T11:13:13Z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2015-04-01T00:00:00Z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2025-07-08T00:00:00Z</vt:filetime>
  </property>
  <property fmtid="{D5CDD505-2E9C-101B-9397-08002B2CF9AE}" pid="5" name="Producer">
    <vt:lpwstr>Mac OS X 10.10.3 Quartz PDFContext</vt:lpwstr>
  </property>
</Properties>
</file>